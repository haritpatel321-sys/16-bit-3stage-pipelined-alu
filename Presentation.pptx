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16-bit, 3-Stage Pipelined ALU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Decode → Execute → Writeback</a:t>
            </a:r>
          </a:p>
          <a:p>
            <a:pPr algn="ctr">
              <a:defRPr sz="2000"/>
            </a:pPr>
            <a:r>
              <a:t>A 16-bit ALU architecture demonstrating datapath design, pipelining and hazard handling</a:t>
            </a:r>
          </a:p>
          <a:p>
            <a:pPr algn="ctr">
              <a:defRPr sz="1700"/>
            </a:pPr>
            <a:r>
              <a:t>Software/RTL simulation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a 16-bit Arithmetic Logic Unit organized as a 3-stage pipeline.</a:t>
            </a:r>
          </a:p>
          <a:p>
            <a:pPr>
              <a:spcAft>
                <a:spcPts val="1200"/>
              </a:spcAft>
              <a:defRPr sz="2000"/>
            </a:pPr>
            <a:r>
              <a:t>Pipeline stages: Decode → Execute → Writeback.</a:t>
            </a:r>
          </a:p>
          <a:p>
            <a:pPr>
              <a:spcAft>
                <a:spcPts val="1200"/>
              </a:spcAft>
              <a:defRPr sz="2000"/>
            </a:pPr>
            <a:r>
              <a:t>Demonstrate overlapping instruction execution using pipeline registers.</a:t>
            </a:r>
          </a:p>
          <a:p>
            <a:pPr>
              <a:spcAft>
                <a:spcPts val="1200"/>
              </a:spcAft>
              <a:defRPr sz="2000"/>
            </a:pPr>
            <a:r>
              <a:t>Support arithmetic, logical, shift and compare operations.</a:t>
            </a:r>
          </a:p>
          <a:p>
            <a:pPr>
              <a:spcAft>
                <a:spcPts val="1200"/>
              </a:spcAft>
              <a:defRPr sz="2000"/>
            </a:pPr>
            <a:r>
              <a:t>Generate status flags: Zero (Z), Carry (C), Overflow (V), Negative (N).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Supported ALU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ADD — A + B</a:t>
            </a:r>
          </a:p>
          <a:p>
            <a:pPr>
              <a:spcAft>
                <a:spcPts val="1200"/>
              </a:spcAft>
              <a:defRPr sz="1900"/>
            </a:pPr>
            <a:r>
              <a:t>SUB — A − B</a:t>
            </a:r>
          </a:p>
          <a:p>
            <a:pPr>
              <a:spcAft>
                <a:spcPts val="1200"/>
              </a:spcAft>
              <a:defRPr sz="1900"/>
            </a:pPr>
            <a:r>
              <a:t>AND — A &amp; B</a:t>
            </a:r>
          </a:p>
          <a:p>
            <a:pPr>
              <a:spcAft>
                <a:spcPts val="1200"/>
              </a:spcAft>
              <a:defRPr sz="1900"/>
            </a:pPr>
            <a:r>
              <a:t>OR — A | B</a:t>
            </a:r>
          </a:p>
          <a:p>
            <a:pPr>
              <a:spcAft>
                <a:spcPts val="1200"/>
              </a:spcAft>
              <a:defRPr sz="1900"/>
            </a:pPr>
            <a:r>
              <a:t>XOR — A ^ B</a:t>
            </a:r>
          </a:p>
          <a:p>
            <a:pPr>
              <a:spcAft>
                <a:spcPts val="1200"/>
              </a:spcAft>
              <a:defRPr sz="1900"/>
            </a:pPr>
            <a:r>
              <a:t>NOT — ~A</a:t>
            </a:r>
          </a:p>
          <a:p>
            <a:pPr>
              <a:spcAft>
                <a:spcPts val="1200"/>
              </a:spcAft>
              <a:defRPr sz="1900"/>
            </a:pPr>
            <a:r>
              <a:t>Shift Left / Shift Right</a:t>
            </a:r>
          </a:p>
          <a:p>
            <a:pPr>
              <a:spcAft>
                <a:spcPts val="1200"/>
              </a:spcAft>
              <a:defRPr sz="1900"/>
            </a:pPr>
            <a:r>
              <a:t>Compare — arithmetic comparison using subtraction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3-Stage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331720"/>
            <a:ext cx="1645920" cy="12344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STAGE 1</a:t>
            </a:r>
          </a:p>
          <a:p>
            <a:pPr algn="ctr">
              <a:defRPr sz="1600" b="1"/>
            </a:pPr>
            <a:r>
              <a:t>DECODE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2331720"/>
            <a:ext cx="1645920" cy="12344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ID/EX</a:t>
            </a:r>
          </a:p>
          <a:p>
            <a:pPr algn="ctr">
              <a:defRPr sz="1600" b="1"/>
            </a:pPr>
            <a:r>
              <a:t>REGISTER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2331720"/>
            <a:ext cx="1645920" cy="12344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STAGE 2</a:t>
            </a:r>
          </a:p>
          <a:p>
            <a:pPr algn="ctr">
              <a:defRPr sz="1600" b="1"/>
            </a:pPr>
            <a:r>
              <a:t>EXECUTE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331720"/>
            <a:ext cx="1645920" cy="12344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EX/WB</a:t>
            </a:r>
          </a:p>
          <a:p>
            <a:pPr algn="ctr">
              <a:defRPr sz="1600" b="1"/>
            </a:pPr>
            <a:r>
              <a:t>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331720"/>
            <a:ext cx="1645920" cy="12344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STAGE 3</a:t>
            </a:r>
          </a:p>
          <a:p>
            <a:pPr algn="ctr">
              <a:defRPr sz="1600" b="1"/>
            </a:pPr>
            <a:r>
              <a:t>WRITEBACK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31720" y="2651760"/>
            <a:ext cx="594360" cy="5943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754880" y="2651760"/>
            <a:ext cx="594360" cy="5943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178040" y="2651760"/>
            <a:ext cx="594360" cy="5943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601200" y="2651760"/>
            <a:ext cx="594360" cy="5943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Pipeline registers preserve in-flight instruction information between clock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Stage 1 — Decode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Fetch/receive the instruction information.</a:t>
            </a:r>
          </a:p>
          <a:p>
            <a:pPr>
              <a:spcAft>
                <a:spcPts val="1200"/>
              </a:spcAft>
              <a:defRPr sz="2000"/>
            </a:pPr>
            <a:r>
              <a:t>Identify the opcode and source/destination operands.</a:t>
            </a:r>
          </a:p>
          <a:p>
            <a:pPr>
              <a:spcAft>
                <a:spcPts val="1200"/>
              </a:spcAft>
              <a:defRPr sz="2000"/>
            </a:pPr>
            <a:r>
              <a:t>Read the required 16-bit operands from the register file.</a:t>
            </a:r>
          </a:p>
          <a:p>
            <a:pPr>
              <a:spcAft>
                <a:spcPts val="1200"/>
              </a:spcAft>
              <a:defRPr sz="2000"/>
            </a:pPr>
            <a:r>
              <a:t>Store decoded information in the ID/EX pipeline register.</a:t>
            </a:r>
          </a:p>
          <a:p>
            <a:pPr>
              <a:spcAft>
                <a:spcPts val="1200"/>
              </a:spcAft>
              <a:defRPr sz="2000"/>
            </a:pPr>
            <a:r>
              <a:t>Purpose: prepare the instruction for the Execute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Stage 2 — Execute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Receive opcode and operands from the ID/EX register.</a:t>
            </a:r>
          </a:p>
          <a:p>
            <a:pPr>
              <a:spcAft>
                <a:spcPts val="1200"/>
              </a:spcAft>
              <a:defRPr sz="2000"/>
            </a:pPr>
            <a:r>
              <a:t>Perform the selected 16-bit ALU operation.</a:t>
            </a:r>
          </a:p>
          <a:p>
            <a:pPr>
              <a:spcAft>
                <a:spcPts val="1200"/>
              </a:spcAft>
              <a:defRPr sz="2000"/>
            </a:pPr>
            <a:r>
              <a:t>Generate the 16-bit result.</a:t>
            </a:r>
          </a:p>
          <a:p>
            <a:pPr>
              <a:spcAft>
                <a:spcPts val="1200"/>
              </a:spcAft>
              <a:defRPr sz="2000"/>
            </a:pPr>
            <a:r>
              <a:t>Calculate Z, C, V and N status flags.</a:t>
            </a:r>
          </a:p>
          <a:p>
            <a:pPr>
              <a:spcAft>
                <a:spcPts val="1200"/>
              </a:spcAft>
              <a:defRPr sz="2000"/>
            </a:pPr>
            <a:r>
              <a:t>Store result, flags and destination information in the EX/WB register.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Stage 3 — Writeback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Receive the result from the EX/WB pipeline register.</a:t>
            </a:r>
          </a:p>
          <a:p>
            <a:pPr>
              <a:spcAft>
                <a:spcPts val="1200"/>
              </a:spcAft>
              <a:defRPr sz="2000"/>
            </a:pPr>
            <a:r>
              <a:t>Write the result to the destination register.</a:t>
            </a:r>
          </a:p>
          <a:p>
            <a:pPr>
              <a:spcAft>
                <a:spcPts val="1200"/>
              </a:spcAft>
              <a:defRPr sz="2000"/>
            </a:pPr>
            <a:r>
              <a:t>Commit the generated status flags.</a:t>
            </a:r>
          </a:p>
          <a:p>
            <a:pPr>
              <a:spcAft>
                <a:spcPts val="1200"/>
              </a:spcAft>
              <a:defRPr sz="2000"/>
            </a:pPr>
            <a:r>
              <a:t>After Writeback, the instruction has completed.</a:t>
            </a:r>
          </a:p>
          <a:p>
            <a:pPr>
              <a:spcAft>
                <a:spcPts val="1200"/>
              </a:spcAft>
              <a:defRPr sz="2000"/>
            </a:pPr>
            <a:r>
              <a:t>Separating Writeback allows other instructions to be decoded/executed simultaneously.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Pipeline Timing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Example instruction sequence:</a:t>
            </a:r>
          </a:p>
          <a:p>
            <a:pPr>
              <a:spcAft>
                <a:spcPts val="1200"/>
              </a:spcAft>
              <a:defRPr sz="2100"/>
            </a:pPr>
            <a:r>
              <a:t>ADD R1, R2, R3</a:t>
            </a:r>
          </a:p>
          <a:p>
            <a:pPr>
              <a:spcAft>
                <a:spcPts val="1200"/>
              </a:spcAft>
              <a:defRPr sz="2100"/>
            </a:pPr>
            <a:r>
              <a:t>SUB R4, R5, R6</a:t>
            </a:r>
          </a:p>
          <a:p>
            <a:pPr>
              <a:spcAft>
                <a:spcPts val="1200"/>
              </a:spcAft>
              <a:defRPr sz="2100"/>
            </a:pPr>
            <a:r>
              <a:t>AND R7, R1, R4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379476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Cycle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Cycle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Cycle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Cycle 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Decode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Writeback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Decode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Writeback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Decode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Execute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Status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Z (Zero): set when the 16-bit result is 0.</a:t>
            </a:r>
          </a:p>
          <a:p>
            <a:pPr>
              <a:spcAft>
                <a:spcPts val="1200"/>
              </a:spcAft>
              <a:defRPr sz="1900"/>
            </a:pPr>
            <a:r>
              <a:t>C (Carry): indicates carry out for addition / borrow-related comparison for subtraction.</a:t>
            </a:r>
          </a:p>
          <a:p>
            <a:pPr>
              <a:spcAft>
                <a:spcPts val="1200"/>
              </a:spcAft>
              <a:defRPr sz="1900"/>
            </a:pPr>
            <a:r>
              <a:t>V (Overflow): indicates signed arithmetic overflow.</a:t>
            </a:r>
          </a:p>
          <a:p>
            <a:pPr>
              <a:spcAft>
                <a:spcPts val="1200"/>
              </a:spcAft>
              <a:defRPr sz="1900"/>
            </a:pPr>
            <a:r>
              <a:t>N (Negative): equals the most-significant bit of the result.</a:t>
            </a:r>
          </a:p>
          <a:p>
            <a:pPr>
              <a:spcAft>
                <a:spcPts val="1200"/>
              </a:spcAft>
              <a:defRPr sz="1900"/>
            </a:pPr>
            <a:r>
              <a:t>Flags are produced during Execute and committed during Writeback.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Hazard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Example dependency:</a:t>
            </a:r>
          </a:p>
          <a:p>
            <a:pPr>
              <a:spcAft>
                <a:spcPts val="1200"/>
              </a:spcAft>
              <a:defRPr sz="1900"/>
            </a:pPr>
            <a:r>
              <a:t>Instruction 1:  ADD R1, R2, R3</a:t>
            </a:r>
          </a:p>
          <a:p>
            <a:pPr>
              <a:spcAft>
                <a:spcPts val="1200"/>
              </a:spcAft>
              <a:defRPr sz="1900"/>
            </a:pPr>
            <a:r>
              <a:t>Instruction 2:  ADD R4, R1, R5</a:t>
            </a:r>
          </a:p>
          <a:p>
            <a:pPr>
              <a:spcAft>
                <a:spcPts val="1200"/>
              </a:spcAft>
              <a:defRPr sz="1900"/>
            </a:pPr>
            <a:r>
              <a:t>Instruction 2 needs R1 before Instruction 1 has completed Writeback.</a:t>
            </a:r>
          </a:p>
          <a:p>
            <a:pPr>
              <a:spcAft>
                <a:spcPts val="1200"/>
              </a:spcAft>
              <a:defRPr sz="1900"/>
            </a:pPr>
            <a:r>
              <a:t>This is a Read-After-Write (RAW) data hazard.</a:t>
            </a:r>
          </a:p>
          <a:p>
            <a:pPr>
              <a:spcAft>
                <a:spcPts val="1200"/>
              </a:spcAft>
              <a:defRPr sz="1900"/>
            </a:pPr>
            <a:r>
              <a:t>Planned solution: forwarding and/or stalling.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Current Progress for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16-bit ALU architecture defined.</a:t>
            </a:r>
          </a:p>
          <a:p>
            <a:pPr>
              <a:spcAft>
                <a:spcPts val="1200"/>
              </a:spcAft>
              <a:defRPr sz="1800"/>
            </a:pPr>
            <a:r>
              <a:t>3-stage Decode → Execute → Writeback datapath defined.</a:t>
            </a:r>
          </a:p>
          <a:p>
            <a:pPr>
              <a:spcAft>
                <a:spcPts val="1200"/>
              </a:spcAft>
              <a:defRPr sz="1800"/>
            </a:pPr>
            <a:r>
              <a:t>ID/EX and EX/WB pipeline-register concept established.</a:t>
            </a:r>
          </a:p>
          <a:p>
            <a:pPr>
              <a:spcAft>
                <a:spcPts val="1200"/>
              </a:spcAft>
              <a:defRPr sz="1800"/>
            </a:pPr>
            <a:r>
              <a:t>Basic ALU operations and status-flag logic implemented in Verilog simulation.</a:t>
            </a:r>
          </a:p>
          <a:p>
            <a:pPr>
              <a:spcAft>
                <a:spcPts val="1200"/>
              </a:spcAft>
              <a:defRPr sz="1800"/>
            </a:pPr>
            <a:r>
              <a:t>Next implementation focus: complete Writeback integration and hazard handling.</a:t>
            </a:r>
          </a:p>
          <a:p>
            <a:pPr>
              <a:spcAft>
                <a:spcPts val="1200"/>
              </a:spcAft>
              <a:defRPr sz="1800"/>
            </a:pPr>
            <a:r>
              <a:t>Final phase: testbench, cycle-by-cycle trace and 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Run a short instruction sequence in simulation.</a:t>
            </a:r>
          </a:p>
          <a:p>
            <a:pPr>
              <a:spcAft>
                <a:spcPts val="1200"/>
              </a:spcAft>
              <a:defRPr sz="1800"/>
            </a:pPr>
            <a:r>
              <a:t>Show the result of each ALU operation.</a:t>
            </a:r>
          </a:p>
          <a:p>
            <a:pPr>
              <a:spcAft>
                <a:spcPts val="1200"/>
              </a:spcAft>
              <a:defRPr sz="1800"/>
            </a:pPr>
            <a:r>
              <a:t>Show Z, C, V and N flags.</a:t>
            </a:r>
          </a:p>
          <a:p>
            <a:pPr>
              <a:spcAft>
                <a:spcPts val="1200"/>
              </a:spcAft>
              <a:defRPr sz="1800"/>
            </a:pPr>
            <a:r>
              <a:t>Show instructions occupying different pipeline stages in the same clock cycle.</a:t>
            </a:r>
          </a:p>
          <a:p>
            <a:pPr>
              <a:spcAft>
                <a:spcPts val="1200"/>
              </a:spcAft>
              <a:defRPr sz="1800"/>
            </a:pPr>
            <a:r>
              <a:t>Demonstrate a dependent instruction and explain the RAW hazard.</a:t>
            </a:r>
          </a:p>
          <a:p>
            <a:pPr>
              <a:spcAft>
                <a:spcPts val="1200"/>
              </a:spcAft>
              <a:defRPr sz="1800"/>
            </a:pPr>
            <a:r>
              <a:t>Explain how forwarding/stalling will resolve the hazard.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3-Week Completion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Week 1: complete all ALU operations, flags and 3-stage pipeline integration.</a:t>
            </a:r>
          </a:p>
          <a:p>
            <a:pPr>
              <a:spcAft>
                <a:spcPts val="1200"/>
              </a:spcAft>
              <a:defRPr sz="1900"/>
            </a:pPr>
            <a:r>
              <a:t>Week 2: implement RAW hazard detection and forwarding/stalling; add test cases.</a:t>
            </a:r>
          </a:p>
          <a:p>
            <a:pPr>
              <a:spcAft>
                <a:spcPts val="1200"/>
              </a:spcAft>
              <a:defRPr sz="1900"/>
            </a:pPr>
            <a:r>
              <a:t>Week 3: complete visualization, edge-case testing, report and final demonstration.</a:t>
            </a:r>
          </a:p>
          <a:p>
            <a:pPr>
              <a:spcAft>
                <a:spcPts val="1200"/>
              </a:spcAft>
              <a:defRPr sz="1900"/>
            </a:pPr>
            <a:r>
              <a:t>Final deliverables: Verilog source, testbench, pipeline trace, report and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project demonstrates how a 16-bit ALU can be divided into pipeline stages.</a:t>
            </a:r>
          </a:p>
          <a:p>
            <a:pPr>
              <a:spcAft>
                <a:spcPts val="1200"/>
              </a:spcAft>
              <a:defRPr sz="2000"/>
            </a:pPr>
            <a:r>
              <a:t>Pipeline registers allow multiple instructions to be in flight simultaneously.</a:t>
            </a:r>
          </a:p>
          <a:p>
            <a:pPr>
              <a:spcAft>
                <a:spcPts val="1200"/>
              </a:spcAft>
              <a:defRPr sz="2000"/>
            </a:pPr>
            <a:r>
              <a:t>The main architectural challenge after basic pipelining is data-hazard handling.</a:t>
            </a:r>
          </a:p>
          <a:p>
            <a:pPr>
              <a:spcAft>
                <a:spcPts val="1200"/>
              </a:spcAft>
              <a:defRPr sz="2000"/>
            </a:pPr>
            <a:r>
              <a:t>The completed simulator/RTL will provide cycle-by-cycle evidence of pipeline operation.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